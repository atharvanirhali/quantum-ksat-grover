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6" r:id="rId5"/>
    <p:sldId id="267" r:id="rId6"/>
    <p:sldId id="260" r:id="rId7"/>
    <p:sldId id="280" r:id="rId8"/>
    <p:sldId id="261" r:id="rId9"/>
    <p:sldId id="262" r:id="rId10"/>
    <p:sldId id="269" r:id="rId11"/>
    <p:sldId id="272" r:id="rId12"/>
    <p:sldId id="271" r:id="rId13"/>
    <p:sldId id="263" r:id="rId14"/>
    <p:sldId id="278" r:id="rId15"/>
    <p:sldId id="264" r:id="rId16"/>
    <p:sldId id="274" r:id="rId17"/>
    <p:sldId id="273" r:id="rId18"/>
    <p:sldId id="275" r:id="rId19"/>
    <p:sldId id="276" r:id="rId20"/>
    <p:sldId id="277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D3A70-347B-417A-A6FD-E2FB278C5FA7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54488-A362-425D-8DE5-5ECB4D84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34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85987-064F-421A-81F8-6BEB4B2A406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74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85987-064F-421A-81F8-6BEB4B2A406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820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85987-064F-421A-81F8-6BEB4B2A406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90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125AD-0DC6-477A-83C9-A168C45D07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71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E5513-73BE-093D-2EF2-61BEB483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38B63-2AB3-FBD8-092D-B91D62C19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96325-9C64-89A4-25FF-F502E344B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1164E-542D-8D44-2383-4BEB89D60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125AD-0DC6-477A-83C9-A168C45D07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85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54D1-FC1F-53C9-025C-0A9A4FE4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6C297-4202-F665-B6E5-CD48DD0EA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E2A34-046E-8D34-183F-889B5E0AE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ACC9-3584-07D6-96C9-9B42A76DE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125AD-0DC6-477A-83C9-A168C45D07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41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66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7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0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67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92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7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79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46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38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38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82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62680-8C97-435A-B9C9-2E4E39BE7851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DB7D4-DC89-4B13-9D19-D48FEDF62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0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41030"/>
            <a:ext cx="9144000" cy="623627"/>
          </a:xfrm>
        </p:spPr>
        <p:txBody>
          <a:bodyPr>
            <a:noAutofit/>
          </a:bodyPr>
          <a:lstStyle/>
          <a:p>
            <a:pPr defTabSz="1828891">
              <a:lnSpc>
                <a:spcPct val="115000"/>
              </a:lnSpc>
              <a:buClr>
                <a:srgbClr val="233A44"/>
              </a:buClr>
            </a:pPr>
            <a:r>
              <a:rPr lang="en-US" sz="2800" b="1" dirty="0">
                <a:solidFill>
                  <a:srgbClr val="233A4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 Project Presentation 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866" y="4813275"/>
            <a:ext cx="9144000" cy="917041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 Semi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 the Guidance of</a:t>
            </a:r>
          </a:p>
          <a:p>
            <a:r>
              <a:rPr lang="en-US" b="1" dirty="0">
                <a:solidFill>
                  <a:srgbClr val="C00000"/>
                </a:solidFill>
                <a:latin typeface="Bahnschrift Semi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Prof. R. L. </a:t>
            </a:r>
            <a:r>
              <a:rPr lang="en-US" b="1" dirty="0" err="1">
                <a:solidFill>
                  <a:srgbClr val="C00000"/>
                </a:solidFill>
                <a:latin typeface="Bahnschrift SemiCondensed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Paikrao</a:t>
            </a:r>
            <a:endParaRPr lang="en-US" b="1" dirty="0">
              <a:solidFill>
                <a:srgbClr val="C00000"/>
              </a:solidFill>
              <a:latin typeface="Bahnschrift SemiCondensed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45866" y="168728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524000" y="1801504"/>
            <a:ext cx="9144000" cy="627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“Implementation of efficient Quantum Computing Algorithm for searching”</a:t>
            </a:r>
            <a:endParaRPr lang="en-IN" b="1" dirty="0">
              <a:solidFill>
                <a:schemeClr val="accent4">
                  <a:lumMod val="75000"/>
                </a:schemeClr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" y="102783"/>
            <a:ext cx="1842478" cy="1649833"/>
          </a:xfrm>
          <a:prstGeom prst="rect">
            <a:avLst/>
          </a:prstGeom>
        </p:spPr>
      </p:pic>
      <p:pic>
        <p:nvPicPr>
          <p:cNvPr id="1026" name="Picture 2" descr="SPPU's courses on Swayam platform to begin from August 5 - Times of Indi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" t="1126" r="776" b="2716"/>
          <a:stretch/>
        </p:blipFill>
        <p:spPr bwMode="auto">
          <a:xfrm>
            <a:off x="9826589" y="53895"/>
            <a:ext cx="2256229" cy="164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946750"/>
              </p:ext>
            </p:extLst>
          </p:nvPr>
        </p:nvGraphicFramePr>
        <p:xfrm>
          <a:off x="2697018" y="2226496"/>
          <a:ext cx="7361381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1381">
                  <a:extLst>
                    <a:ext uri="{9D8B030D-6E8A-4147-A177-3AD203B41FA5}">
                      <a16:colId xmlns:a16="http://schemas.microsoft.com/office/drawing/2014/main" val="3726320984"/>
                    </a:ext>
                  </a:extLst>
                </a:gridCol>
              </a:tblGrid>
              <a:tr h="23848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Presented by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Group ID:B01</a:t>
                      </a:r>
                    </a:p>
                    <a:p>
                      <a:pPr algn="l"/>
                      <a:r>
                        <a:rPr lang="en-IN" sz="2400" dirty="0" err="1"/>
                        <a:t>Mr.</a:t>
                      </a:r>
                      <a:r>
                        <a:rPr lang="en-IN" sz="2400" dirty="0"/>
                        <a:t> </a:t>
                      </a:r>
                      <a:r>
                        <a:rPr lang="en-IN" sz="2400" dirty="0" err="1"/>
                        <a:t>Malwade</a:t>
                      </a:r>
                      <a:r>
                        <a:rPr lang="en-IN" sz="2400" dirty="0"/>
                        <a:t> </a:t>
                      </a:r>
                      <a:r>
                        <a:rPr lang="en-IN" sz="2400" dirty="0" err="1"/>
                        <a:t>Rohit</a:t>
                      </a:r>
                      <a:r>
                        <a:rPr lang="en-IN" sz="2400" dirty="0"/>
                        <a:t> Suresh     Exam No: B400100389       </a:t>
                      </a:r>
                      <a:r>
                        <a:rPr lang="en-IN" sz="2400" dirty="0" err="1"/>
                        <a:t>Mr.</a:t>
                      </a:r>
                      <a:r>
                        <a:rPr lang="en-IN" sz="2400" dirty="0"/>
                        <a:t> </a:t>
                      </a:r>
                      <a:r>
                        <a:rPr lang="en-IN" sz="2400" dirty="0" err="1"/>
                        <a:t>Nirhali</a:t>
                      </a:r>
                      <a:r>
                        <a:rPr lang="en-IN" sz="2400" dirty="0"/>
                        <a:t> </a:t>
                      </a:r>
                      <a:r>
                        <a:rPr lang="en-IN" sz="2400" dirty="0" err="1"/>
                        <a:t>Atharva</a:t>
                      </a:r>
                      <a:r>
                        <a:rPr lang="en-IN" sz="2400" dirty="0"/>
                        <a:t> Ajay       </a:t>
                      </a:r>
                      <a:r>
                        <a:rPr lang="en-IN" sz="2400" baseline="0" dirty="0"/>
                        <a:t> </a:t>
                      </a:r>
                      <a:r>
                        <a:rPr lang="en-IN" sz="2400" dirty="0"/>
                        <a:t>  Exam No: B400100400 </a:t>
                      </a:r>
                    </a:p>
                    <a:p>
                      <a:pPr algn="l"/>
                      <a:r>
                        <a:rPr lang="en-IN" sz="2400" dirty="0" err="1"/>
                        <a:t>Mr.</a:t>
                      </a:r>
                      <a:r>
                        <a:rPr lang="en-IN" sz="2400" dirty="0"/>
                        <a:t> Panchal </a:t>
                      </a:r>
                      <a:r>
                        <a:rPr lang="en-IN" sz="2400" dirty="0" err="1"/>
                        <a:t>Soham</a:t>
                      </a:r>
                      <a:r>
                        <a:rPr lang="en-IN" sz="2400" dirty="0"/>
                        <a:t> </a:t>
                      </a:r>
                      <a:r>
                        <a:rPr lang="en-IN" sz="2400" dirty="0" err="1"/>
                        <a:t>Satish</a:t>
                      </a:r>
                      <a:r>
                        <a:rPr lang="en-IN" sz="2400" dirty="0"/>
                        <a:t>       Exam No: B400100401</a:t>
                      </a:r>
                    </a:p>
                    <a:p>
                      <a:pPr algn="l"/>
                      <a:r>
                        <a:rPr lang="en-IN" sz="2400" dirty="0" err="1"/>
                        <a:t>Mr.</a:t>
                      </a:r>
                      <a:r>
                        <a:rPr lang="en-IN" sz="2400" dirty="0"/>
                        <a:t> Patil Akshay Anna              Exam No: B400100406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400" b="1" dirty="0"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7373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47830" y="5730316"/>
            <a:ext cx="7696339" cy="10125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828891">
              <a:lnSpc>
                <a:spcPct val="80000"/>
              </a:lnSpc>
              <a:spcBef>
                <a:spcPts val="1800"/>
              </a:spcBef>
              <a:buClr>
                <a:srgbClr val="233A44"/>
              </a:buClr>
            </a:pPr>
            <a:r>
              <a:rPr lang="en-US" sz="2800" b="1" dirty="0">
                <a:solidFill>
                  <a:srgbClr val="233A4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Department of Computer Engineering</a:t>
            </a:r>
          </a:p>
          <a:p>
            <a:pPr algn="ctr" defTabSz="1828891">
              <a:lnSpc>
                <a:spcPct val="80000"/>
              </a:lnSpc>
              <a:spcBef>
                <a:spcPts val="1800"/>
              </a:spcBef>
              <a:buClr>
                <a:srgbClr val="233A44"/>
              </a:buClr>
            </a:pPr>
            <a:r>
              <a:rPr lang="en-US" sz="2800" b="1" dirty="0" err="1">
                <a:solidFill>
                  <a:srgbClr val="233A4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Amrutvahini</a:t>
            </a:r>
            <a:r>
              <a:rPr lang="en-US" sz="2800" b="1" dirty="0">
                <a:solidFill>
                  <a:srgbClr val="233A4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College of Engineering, </a:t>
            </a:r>
            <a:r>
              <a:rPr lang="en-US" sz="2800" b="1" dirty="0" err="1">
                <a:solidFill>
                  <a:srgbClr val="233A4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Sangamner</a:t>
            </a:r>
            <a:endParaRPr lang="en-IN" sz="28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935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4EB541-1459-65B4-9407-63F5490E3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/>
              <a:t>	</a:t>
            </a:r>
            <a:r>
              <a:rPr lang="en-US" b="1" dirty="0">
                <a:solidFill>
                  <a:schemeClr val="bg1"/>
                </a:solidFill>
              </a:rPr>
              <a:t>Contents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34286A-C209-C7F0-82FF-A1E0519CE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2" y="1549399"/>
            <a:ext cx="10515600" cy="5308601"/>
          </a:xfrm>
        </p:spPr>
        <p:txBody>
          <a:bodyPr/>
          <a:lstStyle/>
          <a:p>
            <a:r>
              <a:rPr lang="en-US" sz="2933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1.Abstract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2.Introduction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3.Literature Review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4.Architecture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5.Algorithm/methodology used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6.Implementation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7.Testing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8.Results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9.Conclusion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10.References </a:t>
            </a:r>
          </a:p>
          <a:p>
            <a:r>
              <a:rPr lang="en-US" sz="2400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Participation Details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76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762D-FEDF-59CF-C5A4-EAE9FF59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80C31-5CF2-262B-A045-7131A308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1.Abstract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14D6ED-3897-4237-8833-4CB129AB50D3}"/>
              </a:ext>
            </a:extLst>
          </p:cNvPr>
          <p:cNvSpPr>
            <a:spLocks noGrp="1"/>
          </p:cNvSpPr>
          <p:nvPr/>
        </p:nvSpPr>
        <p:spPr>
          <a:xfrm>
            <a:off x="841248" y="1930400"/>
            <a:ext cx="10515600" cy="492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K-SAT problem poses significant computational challenges due to its exponential time complexity in classical algorithms..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research introduces a quantum approach using Grover’s algorithm to achieve a quadratic speedup in finding satisfiable solutions.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custom quantum oracle is designed to encode K-SAT clauses and is integrated into Grover’s iterative search using Qiskit.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demonstrate improved efficiency, showcasing the potential of quantum computing in solving complex combinatorial problems.</a:t>
            </a:r>
          </a:p>
        </p:txBody>
      </p:sp>
    </p:spTree>
    <p:extLst>
      <p:ext uri="{BB962C8B-B14F-4D97-AF65-F5344CB8AC3E}">
        <p14:creationId xmlns:p14="http://schemas.microsoft.com/office/powerpoint/2010/main" val="437205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762D-FEDF-59CF-C5A4-EAE9FF59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80C31-5CF2-262B-A045-7131A308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2.Introduction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14D6ED-3897-4237-8833-4CB129AB5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785" y="1930399"/>
            <a:ext cx="6483359" cy="4100946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K-SAT is a hard NP-complete problem with applications in AI, optimization, and circuit design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methods become inefficient as problem size grows, leading to interest in quantum solutions..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Grover’s algorithm offers a quadratic speedup using quantum superposition and interference.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work builds and simulates optimized quantum circuits for K-SAT, showing improved speed and accuracy.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globe with a clock and a red arrow&#10;&#10;AI-generated content may be incorrect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558" y="2751778"/>
            <a:ext cx="3534435" cy="247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2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762D-FEDF-59CF-C5A4-EAE9FF59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80C31-5CF2-262B-A045-7131A308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3.Literature Review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561262"/>
              </p:ext>
            </p:extLst>
          </p:nvPr>
        </p:nvGraphicFramePr>
        <p:xfrm>
          <a:off x="1" y="1265383"/>
          <a:ext cx="12164290" cy="54309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99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3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755">
                <a:tc>
                  <a:txBody>
                    <a:bodyPr/>
                    <a:lstStyle/>
                    <a:p>
                      <a:r>
                        <a:rPr lang="en-IN" sz="1600" dirty="0"/>
                        <a:t>Author(s)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Year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Title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Key Focus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Findings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31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Ominato</a:t>
                      </a:r>
                      <a:r>
                        <a:rPr lang="en-IN" sz="1600" dirty="0"/>
                        <a:t> 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2024</a:t>
                      </a:r>
                      <a:endParaRPr lang="en-IN" sz="16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Improved Grover Adaptive Search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Optimization of Grover’s algorithm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Reduced the number of quantum queries, enhancing overall search efficiency.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31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Shafique 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2024</a:t>
                      </a:r>
                      <a:endParaRPr lang="en-IN" sz="16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Overview of Quantum Computing Concepts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Quantum circuits and foundational algorithms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Provided foundational understanding useful for Grover’s algorithm.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907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Mandviwalla</a:t>
                      </a:r>
                      <a:endParaRPr lang="en-IN" sz="16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2018</a:t>
                      </a:r>
                      <a:endParaRPr lang="en-IN" sz="16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Implementation of Grover’s Algorithm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Real-world implementation on IBM hardware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Demonstrated Grover’s algorithm is feasible on actual quantum machines.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508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Ambainis</a:t>
                      </a:r>
                      <a:r>
                        <a:rPr lang="en-IN" sz="1600" dirty="0"/>
                        <a:t> 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2013</a:t>
                      </a:r>
                      <a:endParaRPr lang="en-IN" sz="16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Error Analysis in Grover’s Algorithm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Error impact in quantum computation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Highlighted the need for error mitigation in Grover’s algorithm.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425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4EB541-1459-65B4-9407-63F5490E3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	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4.Architecture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840" y="1563328"/>
            <a:ext cx="9259592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29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B51475-96B3-9E25-5B39-6D392C07D453}"/>
              </a:ext>
            </a:extLst>
          </p:cNvPr>
          <p:cNvSpPr txBox="1"/>
          <p:nvPr/>
        </p:nvSpPr>
        <p:spPr>
          <a:xfrm>
            <a:off x="352425" y="161924"/>
            <a:ext cx="1847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BASICS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D417193-64F1-5188-4E3E-1298593B9413}"/>
              </a:ext>
            </a:extLst>
          </p:cNvPr>
          <p:cNvSpPr/>
          <p:nvPr/>
        </p:nvSpPr>
        <p:spPr>
          <a:xfrm>
            <a:off x="571500" y="1757362"/>
            <a:ext cx="523875" cy="5238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C39711-3A0C-A4D6-5EFE-4D495E9772FB}"/>
              </a:ext>
            </a:extLst>
          </p:cNvPr>
          <p:cNvSpPr/>
          <p:nvPr/>
        </p:nvSpPr>
        <p:spPr>
          <a:xfrm>
            <a:off x="1276350" y="1757361"/>
            <a:ext cx="523875" cy="5238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A187B-582C-1E40-657E-63FC3C35A1FB}"/>
              </a:ext>
            </a:extLst>
          </p:cNvPr>
          <p:cNvSpPr txBox="1"/>
          <p:nvPr/>
        </p:nvSpPr>
        <p:spPr>
          <a:xfrm>
            <a:off x="509761" y="1059892"/>
            <a:ext cx="159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Bits v/s Qubits: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BE9C8-E16E-5379-15A4-B00B3B36ECAE}"/>
              </a:ext>
            </a:extLst>
          </p:cNvPr>
          <p:cNvSpPr txBox="1"/>
          <p:nvPr/>
        </p:nvSpPr>
        <p:spPr>
          <a:xfrm>
            <a:off x="685565" y="1833861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C01DE6-AF95-E6FC-215F-FA6B661650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50" y="1620633"/>
            <a:ext cx="2076450" cy="11651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2082CC-D0E2-D2CF-65DD-5EEC0D91B5DD}"/>
              </a:ext>
            </a:extLst>
          </p:cNvPr>
          <p:cNvSpPr txBox="1"/>
          <p:nvPr/>
        </p:nvSpPr>
        <p:spPr>
          <a:xfrm>
            <a:off x="6324903" y="1059892"/>
            <a:ext cx="781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Gates: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31D448-F03B-C902-7821-830DE7E726CA}"/>
              </a:ext>
            </a:extLst>
          </p:cNvPr>
          <p:cNvCxnSpPr/>
          <p:nvPr/>
        </p:nvCxnSpPr>
        <p:spPr>
          <a:xfrm>
            <a:off x="6096000" y="161924"/>
            <a:ext cx="0" cy="66960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6C82B71-078A-DDA1-9775-0433AEAF5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186" y="1757361"/>
            <a:ext cx="2821227" cy="10715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65EFDB-2951-66DE-C6FF-D1E9FDA0CD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598" y="188804"/>
            <a:ext cx="2412199" cy="333519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088F65-CA4E-36B5-B119-14F320067A2F}"/>
              </a:ext>
            </a:extLst>
          </p:cNvPr>
          <p:cNvCxnSpPr>
            <a:cxnSpLocks/>
          </p:cNvCxnSpPr>
          <p:nvPr/>
        </p:nvCxnSpPr>
        <p:spPr>
          <a:xfrm flipH="1">
            <a:off x="0" y="3695700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7C6EB89-5049-598C-AF62-98593237F005}"/>
              </a:ext>
            </a:extLst>
          </p:cNvPr>
          <p:cNvSpPr txBox="1"/>
          <p:nvPr/>
        </p:nvSpPr>
        <p:spPr>
          <a:xfrm>
            <a:off x="297528" y="3947337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Superposition: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C7231C-606F-3BE1-76F6-2584E8200143}"/>
              </a:ext>
            </a:extLst>
          </p:cNvPr>
          <p:cNvSpPr/>
          <p:nvPr/>
        </p:nvSpPr>
        <p:spPr>
          <a:xfrm>
            <a:off x="1381125" y="4674065"/>
            <a:ext cx="468426" cy="465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6B248F-13DE-7450-39A7-7F8D5A388770}"/>
              </a:ext>
            </a:extLst>
          </p:cNvPr>
          <p:cNvSpPr/>
          <p:nvPr/>
        </p:nvSpPr>
        <p:spPr>
          <a:xfrm>
            <a:off x="1381125" y="5332751"/>
            <a:ext cx="468426" cy="465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835FB97-BB85-2953-9D77-A0B31CD60B53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1033462" y="4906744"/>
            <a:ext cx="347663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32F6066-3369-5810-1E2D-2EDEF7BAE31D}"/>
              </a:ext>
            </a:extLst>
          </p:cNvPr>
          <p:cNvCxnSpPr/>
          <p:nvPr/>
        </p:nvCxnSpPr>
        <p:spPr>
          <a:xfrm flipV="1">
            <a:off x="1849551" y="4906743"/>
            <a:ext cx="347663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8E2249-213A-9D19-5F3B-04100EB67067}"/>
              </a:ext>
            </a:extLst>
          </p:cNvPr>
          <p:cNvCxnSpPr/>
          <p:nvPr/>
        </p:nvCxnSpPr>
        <p:spPr>
          <a:xfrm flipV="1">
            <a:off x="1033462" y="5578257"/>
            <a:ext cx="347663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61D96D9-D488-F5A9-CB15-F5D992626234}"/>
              </a:ext>
            </a:extLst>
          </p:cNvPr>
          <p:cNvCxnSpPr/>
          <p:nvPr/>
        </p:nvCxnSpPr>
        <p:spPr>
          <a:xfrm flipV="1">
            <a:off x="1862312" y="5578257"/>
            <a:ext cx="347663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187E9B2-BE5E-5762-A778-8B61EEB9A2E3}"/>
              </a:ext>
            </a:extLst>
          </p:cNvPr>
          <p:cNvSpPr txBox="1"/>
          <p:nvPr/>
        </p:nvSpPr>
        <p:spPr>
          <a:xfrm>
            <a:off x="328388" y="4616202"/>
            <a:ext cx="714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|0&gt;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28729E-604E-A2C8-837E-7EF2C5CADB12}"/>
              </a:ext>
            </a:extLst>
          </p:cNvPr>
          <p:cNvSpPr txBox="1"/>
          <p:nvPr/>
        </p:nvSpPr>
        <p:spPr>
          <a:xfrm>
            <a:off x="328388" y="5316647"/>
            <a:ext cx="714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|0&gt;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A4A92B1-6390-D7EB-7BA5-5553BB7E282D}"/>
              </a:ext>
            </a:extLst>
          </p:cNvPr>
          <p:cNvCxnSpPr/>
          <p:nvPr/>
        </p:nvCxnSpPr>
        <p:spPr>
          <a:xfrm>
            <a:off x="3486150" y="4514850"/>
            <a:ext cx="0" cy="16859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8AA2018-A0DF-7DB6-F732-C8E4F8D258B4}"/>
              </a:ext>
            </a:extLst>
          </p:cNvPr>
          <p:cNvCxnSpPr>
            <a:cxnSpLocks/>
          </p:cNvCxnSpPr>
          <p:nvPr/>
        </p:nvCxnSpPr>
        <p:spPr>
          <a:xfrm flipH="1">
            <a:off x="3267075" y="5934075"/>
            <a:ext cx="2209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7087708-B217-7DDC-42D7-7A48A720997A}"/>
              </a:ext>
            </a:extLst>
          </p:cNvPr>
          <p:cNvSpPr/>
          <p:nvPr/>
        </p:nvSpPr>
        <p:spPr>
          <a:xfrm>
            <a:off x="3660418" y="5495927"/>
            <a:ext cx="330556" cy="432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7E9FFB-FD40-ECF2-97A8-EAF533212DFE}"/>
              </a:ext>
            </a:extLst>
          </p:cNvPr>
          <p:cNvSpPr/>
          <p:nvPr/>
        </p:nvSpPr>
        <p:spPr>
          <a:xfrm>
            <a:off x="4067561" y="5495927"/>
            <a:ext cx="330556" cy="432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27B2A5-E841-A14A-17FB-4413DF8F04FF}"/>
              </a:ext>
            </a:extLst>
          </p:cNvPr>
          <p:cNvSpPr/>
          <p:nvPr/>
        </p:nvSpPr>
        <p:spPr>
          <a:xfrm>
            <a:off x="4459400" y="5495927"/>
            <a:ext cx="330556" cy="432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508454-F6BB-6250-5220-D649CAA9E694}"/>
              </a:ext>
            </a:extLst>
          </p:cNvPr>
          <p:cNvSpPr/>
          <p:nvPr/>
        </p:nvSpPr>
        <p:spPr>
          <a:xfrm>
            <a:off x="4865471" y="5495927"/>
            <a:ext cx="330556" cy="432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4E77C4-2833-25C7-67BB-9B148D5D57D5}"/>
              </a:ext>
            </a:extLst>
          </p:cNvPr>
          <p:cNvSpPr txBox="1"/>
          <p:nvPr/>
        </p:nvSpPr>
        <p:spPr>
          <a:xfrm>
            <a:off x="3606587" y="5928477"/>
            <a:ext cx="1736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00    01  10    11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F4FD60-9978-4B86-D35F-F2D28E882B78}"/>
              </a:ext>
            </a:extLst>
          </p:cNvPr>
          <p:cNvSpPr txBox="1"/>
          <p:nvPr/>
        </p:nvSpPr>
        <p:spPr>
          <a:xfrm>
            <a:off x="2904191" y="5342038"/>
            <a:ext cx="593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0.25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EA098B3-FF38-270E-CBC0-8BD51E533995}"/>
              </a:ext>
            </a:extLst>
          </p:cNvPr>
          <p:cNvCxnSpPr>
            <a:cxnSpLocks/>
          </p:cNvCxnSpPr>
          <p:nvPr/>
        </p:nvCxnSpPr>
        <p:spPr>
          <a:xfrm flipV="1">
            <a:off x="3426417" y="5495926"/>
            <a:ext cx="108964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51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AFA7-993A-CD2B-D08C-9FBC64E8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5C33E-8486-4E12-380B-7F78B53B9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/>
              <a:t>	</a:t>
            </a:r>
            <a:r>
              <a:rPr lang="en-US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5.Algorithm/methodology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375916-82A4-064E-ACF8-D9FA85ACD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642" y="3547649"/>
            <a:ext cx="1093575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94AE26-4DC0-7CA6-A082-DAA894E2F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266" y="1634836"/>
            <a:ext cx="7893789" cy="428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3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E362-CA55-D849-6CC3-98797BE86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E3254-B854-CE04-1902-46541349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993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/>
              <a:t>	</a:t>
            </a:r>
            <a:r>
              <a:rPr lang="en-US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6.Implementation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0A3E81-D79B-7DEF-3BEA-FE83D09581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642" y="3547649"/>
            <a:ext cx="1093575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7E5E7-1575-00C8-846C-8442075E84C9}"/>
              </a:ext>
            </a:extLst>
          </p:cNvPr>
          <p:cNvSpPr txBox="1"/>
          <p:nvPr/>
        </p:nvSpPr>
        <p:spPr>
          <a:xfrm>
            <a:off x="646642" y="2103784"/>
            <a:ext cx="108976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Circuits for each CLAUSE and then for combined clauses.</a:t>
            </a:r>
          </a:p>
          <a:p>
            <a:pPr marL="342900" indent="-342900">
              <a:buAutoNum type="arabicPeriod"/>
            </a:pP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Building ORACLE by appending Circuits build so far.</a:t>
            </a:r>
          </a:p>
          <a:p>
            <a:pPr marL="342900" indent="-342900">
              <a:buAutoNum type="arabicPeriod"/>
            </a:pP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Build a DIFFUSOR Circuit.</a:t>
            </a:r>
          </a:p>
          <a:p>
            <a:pPr marL="342900" indent="-342900">
              <a:buAutoNum type="arabicPeriod"/>
            </a:pP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Calculate Error Rate and Iteration Count</a:t>
            </a:r>
          </a:p>
          <a:p>
            <a:pPr marL="342900" indent="-342900">
              <a:buAutoNum type="arabicPeriod"/>
            </a:pP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Construct Grovers.</a:t>
            </a:r>
          </a:p>
        </p:txBody>
      </p:sp>
    </p:spTree>
    <p:extLst>
      <p:ext uri="{BB962C8B-B14F-4D97-AF65-F5344CB8AC3E}">
        <p14:creationId xmlns:p14="http://schemas.microsoft.com/office/powerpoint/2010/main" val="248374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3B06-EB92-12E1-3C71-473C927F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E939E5-00DD-3392-D702-7C3984F58B13}"/>
              </a:ext>
            </a:extLst>
          </p:cNvPr>
          <p:cNvSpPr txBox="1"/>
          <p:nvPr/>
        </p:nvSpPr>
        <p:spPr>
          <a:xfrm>
            <a:off x="352425" y="161924"/>
            <a:ext cx="4980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21BB8-7F86-FED9-65CE-81CDC0270D97}"/>
              </a:ext>
            </a:extLst>
          </p:cNvPr>
          <p:cNvSpPr txBox="1"/>
          <p:nvPr/>
        </p:nvSpPr>
        <p:spPr>
          <a:xfrm>
            <a:off x="419226" y="1050839"/>
            <a:ext cx="57552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Circuits for each CLAUSE and then for combined clauses.</a:t>
            </a:r>
          </a:p>
          <a:p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Ex: 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3 3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1 2 3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-1 2 -3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1 -2 -3</a:t>
            </a:r>
          </a:p>
          <a:p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EBDEA-2039-D8AA-E41A-2A40DA65328B}"/>
              </a:ext>
            </a:extLst>
          </p:cNvPr>
          <p:cNvSpPr txBox="1"/>
          <p:nvPr/>
        </p:nvSpPr>
        <p:spPr>
          <a:xfrm>
            <a:off x="6618083" y="1050839"/>
            <a:ext cx="2060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For Clause = 1 2 3:</a:t>
            </a:r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A3B9A-4E9D-44CA-8553-745136D1D8E1}"/>
              </a:ext>
            </a:extLst>
          </p:cNvPr>
          <p:cNvCxnSpPr>
            <a:cxnSpLocks/>
          </p:cNvCxnSpPr>
          <p:nvPr/>
        </p:nvCxnSpPr>
        <p:spPr>
          <a:xfrm>
            <a:off x="6349497" y="80962"/>
            <a:ext cx="0" cy="67770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FBA809-217D-0151-E92D-AEFB20B805B7}"/>
              </a:ext>
            </a:extLst>
          </p:cNvPr>
          <p:cNvCxnSpPr>
            <a:cxnSpLocks/>
          </p:cNvCxnSpPr>
          <p:nvPr/>
        </p:nvCxnSpPr>
        <p:spPr>
          <a:xfrm flipH="1">
            <a:off x="0" y="3430886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28A14A1-D935-F57F-7C10-BAE0DB020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016" y="1015686"/>
            <a:ext cx="2372056" cy="2343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2F3EC3-86E8-773C-CB24-0FAD4FC79A9A}"/>
              </a:ext>
            </a:extLst>
          </p:cNvPr>
          <p:cNvSpPr txBox="1"/>
          <p:nvPr/>
        </p:nvSpPr>
        <p:spPr>
          <a:xfrm>
            <a:off x="419226" y="3692942"/>
            <a:ext cx="2191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ii. For </a:t>
            </a:r>
            <a:r>
              <a:rPr lang="en-US" dirty="0"/>
              <a:t>Clause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-1 2 -3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4DE76B-8049-A008-2105-FD563C2E8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816" y="4178888"/>
            <a:ext cx="1076190" cy="19714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6A38BFB-55B2-12E8-D787-4DD9564706BD}"/>
              </a:ext>
            </a:extLst>
          </p:cNvPr>
          <p:cNvSpPr txBox="1"/>
          <p:nvPr/>
        </p:nvSpPr>
        <p:spPr>
          <a:xfrm>
            <a:off x="2114036" y="4400550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q_0: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4AB67F-7DC0-8C78-C08C-17B48630A9BC}"/>
              </a:ext>
            </a:extLst>
          </p:cNvPr>
          <p:cNvSpPr txBox="1"/>
          <p:nvPr/>
        </p:nvSpPr>
        <p:spPr>
          <a:xfrm>
            <a:off x="2114036" y="4658988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q_1: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C92EF-EC98-0E0C-7E82-6BF58B285B2E}"/>
              </a:ext>
            </a:extLst>
          </p:cNvPr>
          <p:cNvSpPr txBox="1"/>
          <p:nvPr/>
        </p:nvSpPr>
        <p:spPr>
          <a:xfrm>
            <a:off x="2124627" y="4920598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q_2: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44A1FE-4F55-E07D-5DCE-1AF7A960DD2B}"/>
              </a:ext>
            </a:extLst>
          </p:cNvPr>
          <p:cNvSpPr txBox="1"/>
          <p:nvPr/>
        </p:nvSpPr>
        <p:spPr>
          <a:xfrm>
            <a:off x="2114036" y="5197458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q_3: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0651E7-0C6E-D0C5-97EC-07B21F9C950D}"/>
              </a:ext>
            </a:extLst>
          </p:cNvPr>
          <p:cNvSpPr txBox="1"/>
          <p:nvPr/>
        </p:nvSpPr>
        <p:spPr>
          <a:xfrm>
            <a:off x="2115102" y="5444339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q_4: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B5FD72-FF14-F58A-AC8C-541D1D17836C}"/>
              </a:ext>
            </a:extLst>
          </p:cNvPr>
          <p:cNvSpPr txBox="1"/>
          <p:nvPr/>
        </p:nvSpPr>
        <p:spPr>
          <a:xfrm>
            <a:off x="2114036" y="5699604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q_5: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9AD4EC-B378-6E08-238C-5874FBD7CD06}"/>
              </a:ext>
            </a:extLst>
          </p:cNvPr>
          <p:cNvSpPr txBox="1"/>
          <p:nvPr/>
        </p:nvSpPr>
        <p:spPr>
          <a:xfrm>
            <a:off x="2114036" y="5961214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q_6: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3A402F-83D6-FFD0-8058-276F1E737C60}"/>
              </a:ext>
            </a:extLst>
          </p:cNvPr>
          <p:cNvSpPr txBox="1"/>
          <p:nvPr/>
        </p:nvSpPr>
        <p:spPr>
          <a:xfrm>
            <a:off x="6618083" y="3620221"/>
            <a:ext cx="179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ii. For </a:t>
            </a:r>
            <a:r>
              <a:rPr lang="en-US" dirty="0"/>
              <a:t>all Clauses: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86EB1EB-A989-DD7C-3FC4-F7BB8FCD0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908" y="4178887"/>
            <a:ext cx="4039164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21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E711A-8D53-1524-9FB7-E9392BC01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6CAC21-9EC4-9F90-5349-A71184DFB77B}"/>
              </a:ext>
            </a:extLst>
          </p:cNvPr>
          <p:cNvSpPr txBox="1"/>
          <p:nvPr/>
        </p:nvSpPr>
        <p:spPr>
          <a:xfrm>
            <a:off x="352425" y="161924"/>
            <a:ext cx="4980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F349F-8735-789B-86A4-F9B24E586CA9}"/>
              </a:ext>
            </a:extLst>
          </p:cNvPr>
          <p:cNvSpPr txBox="1"/>
          <p:nvPr/>
        </p:nvSpPr>
        <p:spPr>
          <a:xfrm>
            <a:off x="419226" y="1050839"/>
            <a:ext cx="575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Building ORACLE by appending Circuits build so far.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C7474B-9917-701A-CAA6-A03BF1446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183" y="1662755"/>
            <a:ext cx="5553850" cy="22291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F96108-79E7-8B9C-1979-CF30330A2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746" y="1690425"/>
            <a:ext cx="1190791" cy="2114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2824C4-6F26-2B83-F31F-B3D25C9EB4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407" y="4476418"/>
            <a:ext cx="3108375" cy="238158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5655" y="4134500"/>
            <a:ext cx="2701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Build a DIFFUSOR Circuit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33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15E3-8903-A3BE-F78A-F0F08B26C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3D797D-22E6-1B95-30CC-FAA50BAAA259}"/>
              </a:ext>
            </a:extLst>
          </p:cNvPr>
          <p:cNvSpPr txBox="1"/>
          <p:nvPr/>
        </p:nvSpPr>
        <p:spPr>
          <a:xfrm>
            <a:off x="758298" y="1050839"/>
            <a:ext cx="575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a. Error Calculation: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71E688-72F6-6D3A-84CA-10802A025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3" y="1677949"/>
            <a:ext cx="1991003" cy="7525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18E790-7EE2-D342-DE81-E854668BCFAC}"/>
              </a:ext>
            </a:extLst>
          </p:cNvPr>
          <p:cNvSpPr txBox="1"/>
          <p:nvPr/>
        </p:nvSpPr>
        <p:spPr>
          <a:xfrm>
            <a:off x="758298" y="2958007"/>
            <a:ext cx="575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a. Iteration Calculation: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51990E-F898-DBE6-E078-1B3A1A632F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3" y="3429000"/>
            <a:ext cx="2105319" cy="86139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AA8614-F604-0000-B9A7-86029BA3DCF8}"/>
              </a:ext>
            </a:extLst>
          </p:cNvPr>
          <p:cNvCxnSpPr>
            <a:cxnSpLocks/>
          </p:cNvCxnSpPr>
          <p:nvPr/>
        </p:nvCxnSpPr>
        <p:spPr>
          <a:xfrm>
            <a:off x="6174463" y="40481"/>
            <a:ext cx="0" cy="67770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0C1503-FC15-CC17-B35F-406A8F9F4F01}"/>
              </a:ext>
            </a:extLst>
          </p:cNvPr>
          <p:cNvSpPr txBox="1"/>
          <p:nvPr/>
        </p:nvSpPr>
        <p:spPr>
          <a:xfrm>
            <a:off x="419226" y="344257"/>
            <a:ext cx="575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Calculate Error Rate and Iteration Count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19BA38-B9D5-DE4D-A16B-604E1BE6FE7B}"/>
              </a:ext>
            </a:extLst>
          </p:cNvPr>
          <p:cNvSpPr txBox="1"/>
          <p:nvPr/>
        </p:nvSpPr>
        <p:spPr>
          <a:xfrm>
            <a:off x="6736898" y="344257"/>
            <a:ext cx="575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Construct Grovers Circuit: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C8EA59-C399-354E-0A3F-0019CEBA75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744" y="1263553"/>
            <a:ext cx="4516037" cy="292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77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B38C-D6B3-E653-86F5-836E46FE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4CB9E1-8D9E-3A5B-498F-236D6BF2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/>
              <a:t>	</a:t>
            </a:r>
            <a:r>
              <a:rPr lang="en-US" dirty="0">
                <a:solidFill>
                  <a:srgbClr val="5424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7.Testing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320A1-99D8-2F87-7C07-E1DE806E2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845" y="4066370"/>
            <a:ext cx="1093575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6642" y="1579418"/>
            <a:ext cx="9781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Grover’s Algorithm works accurately for solving the 3-SAT problem on a 6-qubit quantum circuit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6642" y="2768494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types:		</a:t>
            </a:r>
            <a:endParaRPr lang="en-IN" sz="24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46642" y="3247316"/>
            <a:ext cx="640867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Unit Testing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Oracle, diffuser,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Hadamard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Testing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Full quantum circuit.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Acceptance Testing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Verified search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 Testing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End-to-end execution.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46642" y="5260660"/>
            <a:ext cx="61957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 Tools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Aer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Simulator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testing &amp; validation)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plot_histogram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(for result analysis)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63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894455"/>
              </p:ext>
            </p:extLst>
          </p:nvPr>
        </p:nvGraphicFramePr>
        <p:xfrm>
          <a:off x="1828801" y="501837"/>
          <a:ext cx="8700654" cy="525549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591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Test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916"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QC01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Oracle phase inversion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✅ 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916"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QC03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Grover’s algorithm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✅ 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916"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QC06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Final measurement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✅ 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5916"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QC09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Classical </a:t>
                      </a:r>
                      <a:r>
                        <a:rPr lang="en-IN" dirty="0" err="1"/>
                        <a:t>vs</a:t>
                      </a:r>
                      <a:r>
                        <a:rPr lang="en-IN" dirty="0"/>
                        <a:t> Quantum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✅ Matched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591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QC11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6-qubit scalability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✅ Success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464351" y="6199975"/>
            <a:ext cx="352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Test Cases &amp; Results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342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B38C-D6B3-E653-86F5-836E46FE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4CB9E1-8D9E-3A5B-498F-236D6BF2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/>
              <a:t>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8.Results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320A1-99D8-2F87-7C07-E1DE806E2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642" y="3547649"/>
            <a:ext cx="1093575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Placeholder 24">
            <a:extLst>
              <a:ext uri="{FF2B5EF4-FFF2-40B4-BE49-F238E27FC236}">
                <a16:creationId xmlns:a16="http://schemas.microsoft.com/office/drawing/2014/main" id="{D1A2725F-8797-C0C7-C658-B8A1C58CE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445" y="1523655"/>
            <a:ext cx="6605899" cy="508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96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00" y="258618"/>
            <a:ext cx="5538492" cy="635461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982" y="258618"/>
            <a:ext cx="5916470" cy="635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69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B38C-D6B3-E653-86F5-836E46FE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4CB9E1-8D9E-3A5B-498F-236D6BF2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/>
              <a:t>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9.Conclusion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320A1-99D8-2F87-7C07-E1DE806E2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642" y="3547649"/>
            <a:ext cx="1093575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81976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proves that Grover’s algorithm can efficiently solve small-scale K-SAT problems with up to 95% accuracy and significant time reduction.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current limitations due to noise and scalability, the approach shows strong potential, paving the way for future hybrid quantum-classical solutions in complex problem-solving.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851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B38C-D6B3-E653-86F5-836E46FE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4CB9E1-8D9E-3A5B-498F-236D6BF2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/>
              <a:t>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10.References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320A1-99D8-2F87-7C07-E1DE806E2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642" y="3547649"/>
            <a:ext cx="1093575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BC12C9-5B22-4DD8-9900-204BDE96E6FF}"/>
              </a:ext>
            </a:extLst>
          </p:cNvPr>
          <p:cNvSpPr txBox="1">
            <a:spLocks/>
          </p:cNvSpPr>
          <p:nvPr/>
        </p:nvSpPr>
        <p:spPr>
          <a:xfrm>
            <a:off x="838200" y="1819763"/>
            <a:ext cx="10515600" cy="484889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[1].Hiroaki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Ominato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Takahiro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Ohyama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Koichiro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Yamaguchi. Grover adaptive search with fewer queries. IEEE Access, 12:74619–74632, 2024.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[2].Muhammad Ali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Shafique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Arslan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Munir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Imran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Latif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Quantum computing: Circuits, algorithms, and applications. IEEE Access, 12:22296–22314, 2024.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[3].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Aamir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Mandviwalla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Keita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Ohshiro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Bo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Implementing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grover’s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 on the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quantum computers. In 2018 IEEE International Conference on Big Data (Big Data), pages 2531–2537, 2018.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[4].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Andris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Ambainis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Artrs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Bakurs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Nikolajs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Nahimovs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Alexander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Rivosh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Grover’s algorithm with errors. In Mathematical and Engineering Methods in Computer Science, pages 180–189, 2013.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[5].Bansal, P. K., </a:t>
            </a:r>
            <a:r>
              <a:rPr lang="en-US" sz="7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Rupasinghe</a:t>
            </a:r>
            <a:r>
              <a:rPr lang="en-US" sz="7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 S., &amp; Jain, A. S. (1996). An empirical correction for sizing capillary tubes. International Journal of Refrigeration, 19(8), 497–505.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639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B38C-D6B3-E653-86F5-836E46FE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4CB9E1-8D9E-3A5B-498F-236D6BF2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11702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Participation Details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320A1-99D8-2F87-7C07-E1DE806E2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642" y="3547649"/>
            <a:ext cx="1093575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BC12C9-5B22-4DD8-9900-204BDE96E6FF}"/>
              </a:ext>
            </a:extLst>
          </p:cNvPr>
          <p:cNvSpPr txBox="1">
            <a:spLocks/>
          </p:cNvSpPr>
          <p:nvPr/>
        </p:nvSpPr>
        <p:spPr>
          <a:xfrm>
            <a:off x="838200" y="1819763"/>
            <a:ext cx="5756564" cy="4848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Participated in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Amrut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Expo 2025 – a Project Exhibition &amp; Competition held on 4th &amp; 5th April 2025 at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Amrutvahini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Engineering.</a:t>
            </a:r>
          </a:p>
          <a:p>
            <a:pPr algn="just"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Received a Certificate of Excellence for active participation and project demonstration.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764" y="1770686"/>
            <a:ext cx="5523346" cy="3553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7333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37" y="130256"/>
            <a:ext cx="10677236" cy="6815490"/>
          </a:xfrm>
        </p:spPr>
      </p:pic>
    </p:spTree>
    <p:extLst>
      <p:ext uri="{BB962C8B-B14F-4D97-AF65-F5344CB8AC3E}">
        <p14:creationId xmlns:p14="http://schemas.microsoft.com/office/powerpoint/2010/main" val="3244228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4EB541-1459-65B4-9407-63F5490E3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8096" cy="6858000"/>
          </a:xfrm>
          <a:solidFill>
            <a:schemeClr val="accent2">
              <a:lumMod val="75000"/>
            </a:schemeClr>
          </a:solidFill>
          <a:effectLst>
            <a:softEdge rad="12700"/>
          </a:effectLst>
        </p:spPr>
        <p:txBody>
          <a:bodyPr/>
          <a:lstStyle/>
          <a:p>
            <a:r>
              <a:rPr lang="en-US" b="1" dirty="0"/>
              <a:t>	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E07F4-165A-4D22-7F9E-B63642253338}"/>
              </a:ext>
            </a:extLst>
          </p:cNvPr>
          <p:cNvSpPr/>
          <p:nvPr/>
        </p:nvSpPr>
        <p:spPr>
          <a:xfrm>
            <a:off x="1422400" y="1168400"/>
            <a:ext cx="9448800" cy="4521200"/>
          </a:xfrm>
          <a:prstGeom prst="rect">
            <a:avLst/>
          </a:prstGeom>
          <a:solidFill>
            <a:srgbClr val="D5E5FF"/>
          </a:solidFill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D5A89-76E5-5CE0-6CD7-B1A9E652CCDE}"/>
              </a:ext>
            </a:extLst>
          </p:cNvPr>
          <p:cNvSpPr txBox="1"/>
          <p:nvPr/>
        </p:nvSpPr>
        <p:spPr>
          <a:xfrm>
            <a:off x="3190748" y="1600200"/>
            <a:ext cx="5562600" cy="34985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algn="ctr"/>
            <a:r>
              <a:rPr lang="en-US" sz="11067" b="1" dirty="0">
                <a:solidFill>
                  <a:srgbClr val="7030A0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THANK YOU!!</a:t>
            </a:r>
            <a:endParaRPr lang="en-IN" sz="11067" b="1" dirty="0">
              <a:solidFill>
                <a:srgbClr val="7030A0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3909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990</Words>
  <Application>Microsoft Office PowerPoint</Application>
  <PresentationFormat>Widescreen</PresentationFormat>
  <Paragraphs>158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Bahnschrift SemiCondensed</vt:lpstr>
      <vt:lpstr>Calibri</vt:lpstr>
      <vt:lpstr>Calibri Light</vt:lpstr>
      <vt:lpstr>Century Gothic</vt:lpstr>
      <vt:lpstr>Times New Roman</vt:lpstr>
      <vt:lpstr>Office Theme</vt:lpstr>
      <vt:lpstr>A Project Presentation on </vt:lpstr>
      <vt:lpstr> Contents</vt:lpstr>
      <vt:lpstr>  1.Abstract </vt:lpstr>
      <vt:lpstr>  2.Introduction </vt:lpstr>
      <vt:lpstr>  3.Literature Review</vt:lpstr>
      <vt:lpstr>  4.Architecture</vt:lpstr>
      <vt:lpstr>PowerPoint Presentation</vt:lpstr>
      <vt:lpstr>  5.Algorithm/methodology</vt:lpstr>
      <vt:lpstr>  6.Implementation</vt:lpstr>
      <vt:lpstr>PowerPoint Presentation</vt:lpstr>
      <vt:lpstr>PowerPoint Presentation</vt:lpstr>
      <vt:lpstr>PowerPoint Presentation</vt:lpstr>
      <vt:lpstr>  7.Testing</vt:lpstr>
      <vt:lpstr>PowerPoint Presentation</vt:lpstr>
      <vt:lpstr>  8.Results</vt:lpstr>
      <vt:lpstr>PowerPoint Presentation</vt:lpstr>
      <vt:lpstr>  9.Conclusion </vt:lpstr>
      <vt:lpstr>  10.References</vt:lpstr>
      <vt:lpstr>11. Participation Details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Presentation on</dc:title>
  <dc:creator>Avani</dc:creator>
  <cp:lastModifiedBy>Atharva Nirhali</cp:lastModifiedBy>
  <cp:revision>15</cp:revision>
  <dcterms:created xsi:type="dcterms:W3CDTF">2025-02-28T17:23:34Z</dcterms:created>
  <dcterms:modified xsi:type="dcterms:W3CDTF">2025-06-11T05:35:43Z</dcterms:modified>
</cp:coreProperties>
</file>